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5330952"/>
            <a:ext cx="13048488" cy="3657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5614416"/>
            <a:ext cx="457200" cy="64008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362456" y="5614416"/>
            <a:ext cx="2761488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23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Author: Udaya Udaya</a:t>
            </a:r>
            <a:endParaRPr lang="en-US" sz="2230" dirty="0"/>
          </a:p>
        </p:txBody>
      </p:sp>
      <p:sp>
        <p:nvSpPr>
          <p:cNvPr id="7" name="Text 1"/>
          <p:cNvSpPr/>
          <p:nvPr/>
        </p:nvSpPr>
        <p:spPr>
          <a:xfrm>
            <a:off x="1362456" y="6007608"/>
            <a:ext cx="276148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70"/>
              </a:lnSpc>
              <a:buNone/>
            </a:pPr>
            <a:r>
              <a:rPr lang="en-US" sz="133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Created with Pi</a:t>
            </a:r>
            <a:endParaRPr lang="en-US" sz="1330" dirty="0"/>
          </a:p>
        </p:txBody>
      </p:sp>
      <p:sp>
        <p:nvSpPr>
          <p:cNvPr id="8" name="Text 2"/>
          <p:cNvSpPr/>
          <p:nvPr/>
        </p:nvSpPr>
        <p:spPr>
          <a:xfrm>
            <a:off x="795528" y="4096512"/>
            <a:ext cx="13048488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60" dirty="0">
                <a:solidFill>
                  <a:srgbClr val="5E4B21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Online E-Voting System</a:t>
            </a:r>
            <a:endParaRPr lang="en-US" sz="61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1709928"/>
            <a:ext cx="13048488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60" dirty="0">
                <a:solidFill>
                  <a:srgbClr val="5E4B21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CONTENTS</a:t>
            </a:r>
            <a:endParaRPr lang="en-US" sz="6160" dirty="0"/>
          </a:p>
        </p:txBody>
      </p:sp>
      <p:sp>
        <p:nvSpPr>
          <p:cNvPr id="5" name="Text 1"/>
          <p:cNvSpPr/>
          <p:nvPr/>
        </p:nvSpPr>
        <p:spPr>
          <a:xfrm>
            <a:off x="1024128" y="3172968"/>
            <a:ext cx="264261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23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1. Introduction</a:t>
            </a:r>
            <a:endParaRPr lang="en-US" sz="2230" dirty="0"/>
          </a:p>
        </p:txBody>
      </p:sp>
      <p:sp>
        <p:nvSpPr>
          <p:cNvPr id="6" name="Text 2"/>
          <p:cNvSpPr/>
          <p:nvPr/>
        </p:nvSpPr>
        <p:spPr>
          <a:xfrm>
            <a:off x="1024128" y="4562856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23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5. Proposed System</a:t>
            </a:r>
            <a:endParaRPr lang="en-US" sz="2230" dirty="0"/>
          </a:p>
        </p:txBody>
      </p:sp>
      <p:sp>
        <p:nvSpPr>
          <p:cNvPr id="7" name="Text 3"/>
          <p:cNvSpPr/>
          <p:nvPr/>
        </p:nvSpPr>
        <p:spPr>
          <a:xfrm>
            <a:off x="4343400" y="3172968"/>
            <a:ext cx="264261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23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2. Objectives</a:t>
            </a:r>
            <a:endParaRPr lang="en-US" sz="2230" dirty="0"/>
          </a:p>
        </p:txBody>
      </p:sp>
      <p:sp>
        <p:nvSpPr>
          <p:cNvPr id="8" name="Text 4"/>
          <p:cNvSpPr/>
          <p:nvPr/>
        </p:nvSpPr>
        <p:spPr>
          <a:xfrm>
            <a:off x="1024128" y="5952744"/>
            <a:ext cx="264261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23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9. Bibliography</a:t>
            </a:r>
            <a:endParaRPr lang="en-US" sz="2230" dirty="0"/>
          </a:p>
        </p:txBody>
      </p:sp>
      <p:sp>
        <p:nvSpPr>
          <p:cNvPr id="9" name="Text 5"/>
          <p:cNvSpPr/>
          <p:nvPr/>
        </p:nvSpPr>
        <p:spPr>
          <a:xfrm>
            <a:off x="4343400" y="4562856"/>
            <a:ext cx="264261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23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6. System Modules</a:t>
            </a:r>
            <a:endParaRPr lang="en-US" sz="2230" dirty="0"/>
          </a:p>
        </p:txBody>
      </p:sp>
      <p:sp>
        <p:nvSpPr>
          <p:cNvPr id="10" name="Text 6"/>
          <p:cNvSpPr/>
          <p:nvPr/>
        </p:nvSpPr>
        <p:spPr>
          <a:xfrm>
            <a:off x="7662672" y="3172968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23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3. System Specification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7662672" y="4562856"/>
            <a:ext cx="264261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23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7. System Testing</a:t>
            </a:r>
            <a:endParaRPr lang="en-US" sz="2230" dirty="0"/>
          </a:p>
        </p:txBody>
      </p:sp>
      <p:sp>
        <p:nvSpPr>
          <p:cNvPr id="12" name="Text 8"/>
          <p:cNvSpPr/>
          <p:nvPr/>
        </p:nvSpPr>
        <p:spPr>
          <a:xfrm>
            <a:off x="10972800" y="3172968"/>
            <a:ext cx="264261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23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4. Existing System</a:t>
            </a:r>
            <a:endParaRPr lang="en-US" sz="2230" dirty="0"/>
          </a:p>
        </p:txBody>
      </p:sp>
      <p:sp>
        <p:nvSpPr>
          <p:cNvPr id="13" name="Text 9"/>
          <p:cNvSpPr/>
          <p:nvPr/>
        </p:nvSpPr>
        <p:spPr>
          <a:xfrm>
            <a:off x="10972800" y="4562856"/>
            <a:ext cx="264261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23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8. Conclusion</a:t>
            </a:r>
            <a:endParaRPr lang="en-US" sz="22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7688" y="2944368"/>
            <a:ext cx="719632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580"/>
              </a:lnSpc>
              <a:buNone/>
            </a:pPr>
            <a:r>
              <a:rPr lang="en-US" sz="4460" dirty="0">
                <a:solidFill>
                  <a:srgbClr val="5E4B21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1. Introduction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6647688" y="3904488"/>
            <a:ext cx="71963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Voting is the backbone of democracy. Traditional methods require physical presence. Online voting system allows voters to cast votes through the internet. Aim: To make the voting process faster, safer, and more convenient.</a:t>
            </a:r>
            <a:endParaRPr lang="en-US" sz="1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800600"/>
            <a:ext cx="3127248" cy="192938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4800600"/>
            <a:ext cx="3127248" cy="192938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784" y="4800600"/>
            <a:ext cx="3127248" cy="192938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5056" y="4800600"/>
            <a:ext cx="3127248" cy="192938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95528" y="3849624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580"/>
              </a:lnSpc>
              <a:buNone/>
            </a:pPr>
            <a:r>
              <a:rPr lang="en-US" sz="4460" dirty="0">
                <a:solidFill>
                  <a:srgbClr val="5E4B21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2. Objectives</a:t>
            </a:r>
            <a:endParaRPr lang="en-US" sz="4460" dirty="0"/>
          </a:p>
        </p:txBody>
      </p:sp>
      <p:sp>
        <p:nvSpPr>
          <p:cNvPr id="9" name="Text 1"/>
          <p:cNvSpPr/>
          <p:nvPr/>
        </p:nvSpPr>
        <p:spPr>
          <a:xfrm>
            <a:off x="1042416" y="5056632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23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Secure Online Voting System</a:t>
            </a:r>
            <a:endParaRPr lang="en-US" sz="2230" dirty="0"/>
          </a:p>
        </p:txBody>
      </p:sp>
      <p:sp>
        <p:nvSpPr>
          <p:cNvPr id="10" name="Text 2"/>
          <p:cNvSpPr/>
          <p:nvPr/>
        </p:nvSpPr>
        <p:spPr>
          <a:xfrm>
            <a:off x="1042416" y="5907024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 To create a secure online voting system.</a:t>
            </a:r>
            <a:endParaRPr lang="en-US" sz="1780" dirty="0"/>
          </a:p>
        </p:txBody>
      </p:sp>
      <p:sp>
        <p:nvSpPr>
          <p:cNvPr id="11" name="Text 3"/>
          <p:cNvSpPr/>
          <p:nvPr/>
        </p:nvSpPr>
        <p:spPr>
          <a:xfrm>
            <a:off x="4361688" y="5056632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23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Reduce Manual Errors</a:t>
            </a:r>
            <a:endParaRPr lang="en-US" sz="2230" dirty="0"/>
          </a:p>
        </p:txBody>
      </p:sp>
      <p:sp>
        <p:nvSpPr>
          <p:cNvPr id="12" name="Text 4"/>
          <p:cNvSpPr/>
          <p:nvPr/>
        </p:nvSpPr>
        <p:spPr>
          <a:xfrm>
            <a:off x="4361688" y="5907024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 To reduce manual errors in elections.</a:t>
            </a:r>
            <a:endParaRPr lang="en-US" sz="1780" dirty="0"/>
          </a:p>
        </p:txBody>
      </p:sp>
      <p:sp>
        <p:nvSpPr>
          <p:cNvPr id="13" name="Text 5"/>
          <p:cNvSpPr/>
          <p:nvPr/>
        </p:nvSpPr>
        <p:spPr>
          <a:xfrm>
            <a:off x="7671816" y="5056632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23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Save Time and Effort</a:t>
            </a:r>
            <a:endParaRPr lang="en-US" sz="2230" dirty="0"/>
          </a:p>
        </p:txBody>
      </p:sp>
      <p:sp>
        <p:nvSpPr>
          <p:cNvPr id="14" name="Text 6"/>
          <p:cNvSpPr/>
          <p:nvPr/>
        </p:nvSpPr>
        <p:spPr>
          <a:xfrm>
            <a:off x="7671816" y="5907024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 To save time and effort for voters.</a:t>
            </a:r>
            <a:endParaRPr lang="en-US" sz="1780" dirty="0"/>
          </a:p>
        </p:txBody>
      </p:sp>
      <p:sp>
        <p:nvSpPr>
          <p:cNvPr id="15" name="Text 7"/>
          <p:cNvSpPr/>
          <p:nvPr/>
        </p:nvSpPr>
        <p:spPr>
          <a:xfrm>
            <a:off x="10991088" y="5056632"/>
            <a:ext cx="2615184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23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Quick Results</a:t>
            </a:r>
            <a:endParaRPr lang="en-US" sz="2230" dirty="0"/>
          </a:p>
        </p:txBody>
      </p:sp>
      <p:sp>
        <p:nvSpPr>
          <p:cNvPr id="16" name="Text 8"/>
          <p:cNvSpPr/>
          <p:nvPr/>
        </p:nvSpPr>
        <p:spPr>
          <a:xfrm>
            <a:off x="10991088" y="5550408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 To provide accurate and quick results.</a:t>
            </a:r>
            <a:endParaRPr lang="en-US" sz="1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91640"/>
            <a:ext cx="8101584" cy="235000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4197096"/>
            <a:ext cx="8101584" cy="318211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679192"/>
            <a:ext cx="7653528" cy="113385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193792"/>
            <a:ext cx="7653528" cy="196596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1892808"/>
            <a:ext cx="612648" cy="61264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552" y="4407408"/>
            <a:ext cx="612648" cy="612648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95528" y="886968"/>
            <a:ext cx="8074152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740"/>
              </a:lnSpc>
              <a:buNone/>
            </a:pPr>
            <a:r>
              <a:rPr lang="en-US" sz="3790" dirty="0">
                <a:solidFill>
                  <a:srgbClr val="5E4B21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3. System Specification</a:t>
            </a:r>
            <a:endParaRPr lang="en-US" sz="3790" dirty="0"/>
          </a:p>
        </p:txBody>
      </p:sp>
      <p:sp>
        <p:nvSpPr>
          <p:cNvPr id="11" name="Text 1"/>
          <p:cNvSpPr/>
          <p:nvPr/>
        </p:nvSpPr>
        <p:spPr>
          <a:xfrm>
            <a:off x="1216152" y="2011680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040" dirty="0">
                <a:solidFill>
                  <a:srgbClr val="26262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1</a:t>
            </a:r>
            <a:endParaRPr lang="en-US" sz="2040" dirty="0"/>
          </a:p>
        </p:txBody>
      </p:sp>
      <p:sp>
        <p:nvSpPr>
          <p:cNvPr id="12" name="Text 2"/>
          <p:cNvSpPr/>
          <p:nvPr/>
        </p:nvSpPr>
        <p:spPr>
          <a:xfrm>
            <a:off x="1005840" y="2679192"/>
            <a:ext cx="76535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70"/>
              </a:lnSpc>
              <a:buNone/>
            </a:pPr>
            <a:r>
              <a:rPr lang="en-US" sz="189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Hardware</a:t>
            </a:r>
            <a:endParaRPr lang="en-US" sz="1890" dirty="0"/>
          </a:p>
        </p:txBody>
      </p:sp>
      <p:sp>
        <p:nvSpPr>
          <p:cNvPr id="13" name="Text 3"/>
          <p:cNvSpPr/>
          <p:nvPr/>
        </p:nvSpPr>
        <p:spPr>
          <a:xfrm>
            <a:off x="1005840" y="3154680"/>
            <a:ext cx="76535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1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• Processor: Intel i3</a:t>
            </a:r>
            <a:endParaRPr lang="en-US" sz="1510" dirty="0"/>
          </a:p>
        </p:txBody>
      </p:sp>
      <p:sp>
        <p:nvSpPr>
          <p:cNvPr id="14" name="Text 4"/>
          <p:cNvSpPr/>
          <p:nvPr/>
        </p:nvSpPr>
        <p:spPr>
          <a:xfrm>
            <a:off x="1005840" y="3575304"/>
            <a:ext cx="76535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1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• RAM: 4GB, HDD: 500GB</a:t>
            </a:r>
            <a:endParaRPr lang="en-US" sz="1510" dirty="0"/>
          </a:p>
        </p:txBody>
      </p:sp>
      <p:sp>
        <p:nvSpPr>
          <p:cNvPr id="15" name="Text 5"/>
          <p:cNvSpPr/>
          <p:nvPr/>
        </p:nvSpPr>
        <p:spPr>
          <a:xfrm>
            <a:off x="1216152" y="4526280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040" dirty="0">
                <a:solidFill>
                  <a:srgbClr val="26262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2</a:t>
            </a:r>
            <a:endParaRPr lang="en-US" sz="2040" dirty="0"/>
          </a:p>
        </p:txBody>
      </p:sp>
      <p:sp>
        <p:nvSpPr>
          <p:cNvPr id="16" name="Text 6"/>
          <p:cNvSpPr/>
          <p:nvPr/>
        </p:nvSpPr>
        <p:spPr>
          <a:xfrm>
            <a:off x="1005840" y="5193792"/>
            <a:ext cx="76535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70"/>
              </a:lnSpc>
              <a:buNone/>
            </a:pPr>
            <a:r>
              <a:rPr lang="en-US" sz="189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Software</a:t>
            </a:r>
            <a:endParaRPr lang="en-US" sz="1890" dirty="0"/>
          </a:p>
        </p:txBody>
      </p:sp>
      <p:sp>
        <p:nvSpPr>
          <p:cNvPr id="17" name="Text 7"/>
          <p:cNvSpPr/>
          <p:nvPr/>
        </p:nvSpPr>
        <p:spPr>
          <a:xfrm>
            <a:off x="1005840" y="5669280"/>
            <a:ext cx="76535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1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• OS: Windows 10</a:t>
            </a:r>
            <a:endParaRPr lang="en-US" sz="1510" dirty="0"/>
          </a:p>
        </p:txBody>
      </p:sp>
      <p:sp>
        <p:nvSpPr>
          <p:cNvPr id="18" name="Text 8"/>
          <p:cNvSpPr/>
          <p:nvPr/>
        </p:nvSpPr>
        <p:spPr>
          <a:xfrm>
            <a:off x="1005840" y="6080760"/>
            <a:ext cx="76535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1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• Front-End: HTML, CSS, PHP</a:t>
            </a:r>
            <a:endParaRPr lang="en-US" sz="1510" dirty="0"/>
          </a:p>
        </p:txBody>
      </p:sp>
      <p:sp>
        <p:nvSpPr>
          <p:cNvPr id="19" name="Text 9"/>
          <p:cNvSpPr/>
          <p:nvPr/>
        </p:nvSpPr>
        <p:spPr>
          <a:xfrm>
            <a:off x="1005840" y="6492240"/>
            <a:ext cx="76535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1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• Server: XAMPP</a:t>
            </a:r>
            <a:endParaRPr lang="en-US" sz="1510" dirty="0"/>
          </a:p>
        </p:txBody>
      </p:sp>
      <p:sp>
        <p:nvSpPr>
          <p:cNvPr id="20" name="Text 10"/>
          <p:cNvSpPr/>
          <p:nvPr/>
        </p:nvSpPr>
        <p:spPr>
          <a:xfrm>
            <a:off x="1005840" y="6903720"/>
            <a:ext cx="76535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1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• Database: MySQL</a:t>
            </a:r>
            <a:endParaRPr lang="en-US" sz="15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922776"/>
            <a:ext cx="8129016" cy="219456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95528" y="2167128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580"/>
              </a:lnSpc>
              <a:buNone/>
            </a:pPr>
            <a:r>
              <a:rPr lang="en-US" sz="4460" dirty="0">
                <a:solidFill>
                  <a:srgbClr val="5E4B21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4. Existing System</a:t>
            </a:r>
            <a:endParaRPr lang="en-US" sz="4460" dirty="0"/>
          </a:p>
        </p:txBody>
      </p:sp>
      <p:sp>
        <p:nvSpPr>
          <p:cNvPr id="6" name="Text 1"/>
          <p:cNvSpPr/>
          <p:nvPr/>
        </p:nvSpPr>
        <p:spPr>
          <a:xfrm>
            <a:off x="795528" y="3127248"/>
            <a:ext cx="8074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Manual and EVM-based voting systems require physical presence and long queues. They are time-consuming and prone to human errors.</a:t>
            </a:r>
            <a:endParaRPr lang="en-US" sz="1780" dirty="0"/>
          </a:p>
        </p:txBody>
      </p:sp>
      <p:sp>
        <p:nvSpPr>
          <p:cNvPr id="7" name="Text 2"/>
          <p:cNvSpPr/>
          <p:nvPr/>
        </p:nvSpPr>
        <p:spPr>
          <a:xfrm>
            <a:off x="1051560" y="4206240"/>
            <a:ext cx="7562088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23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Drawbacks</a:t>
            </a:r>
            <a:endParaRPr lang="en-US" sz="2230" dirty="0"/>
          </a:p>
        </p:txBody>
      </p:sp>
      <p:sp>
        <p:nvSpPr>
          <p:cNvPr id="8" name="Text 3"/>
          <p:cNvSpPr/>
          <p:nvPr/>
        </p:nvSpPr>
        <p:spPr>
          <a:xfrm>
            <a:off x="1051560" y="4700016"/>
            <a:ext cx="756208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    • Low voter turnout.</a:t>
            </a:r>
            <a:endParaRPr lang="en-US" sz="1780" dirty="0"/>
          </a:p>
        </p:txBody>
      </p:sp>
      <p:sp>
        <p:nvSpPr>
          <p:cNvPr id="9" name="Text 4"/>
          <p:cNvSpPr/>
          <p:nvPr/>
        </p:nvSpPr>
        <p:spPr>
          <a:xfrm>
            <a:off x="1051560" y="5120640"/>
            <a:ext cx="756208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    • Delays in result calculation.</a:t>
            </a:r>
            <a:endParaRPr lang="en-US" sz="1780" dirty="0"/>
          </a:p>
        </p:txBody>
      </p:sp>
      <p:sp>
        <p:nvSpPr>
          <p:cNvPr id="10" name="Text 5"/>
          <p:cNvSpPr/>
          <p:nvPr/>
        </p:nvSpPr>
        <p:spPr>
          <a:xfrm>
            <a:off x="1051560" y="5532120"/>
            <a:ext cx="756208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    • Risk of data tampering.</a:t>
            </a:r>
            <a:endParaRPr lang="en-US" sz="1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096512"/>
            <a:ext cx="8101584" cy="213055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95528" y="2039112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580"/>
              </a:lnSpc>
              <a:buNone/>
            </a:pPr>
            <a:r>
              <a:rPr lang="en-US" sz="4460" dirty="0">
                <a:solidFill>
                  <a:srgbClr val="5E4B21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5. Proposed System</a:t>
            </a:r>
            <a:endParaRPr lang="en-US" sz="4460" dirty="0"/>
          </a:p>
        </p:txBody>
      </p:sp>
      <p:sp>
        <p:nvSpPr>
          <p:cNvPr id="6" name="Text 1"/>
          <p:cNvSpPr/>
          <p:nvPr/>
        </p:nvSpPr>
        <p:spPr>
          <a:xfrm>
            <a:off x="795528" y="2999232"/>
            <a:ext cx="80741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Voting can be done securely through the internet. Voters can register and vote online. Admin manages voter and candidate data. Automatic counting and result generation.</a:t>
            </a:r>
            <a:endParaRPr lang="en-US" sz="1780" dirty="0"/>
          </a:p>
        </p:txBody>
      </p:sp>
      <p:sp>
        <p:nvSpPr>
          <p:cNvPr id="7" name="Text 2"/>
          <p:cNvSpPr/>
          <p:nvPr/>
        </p:nvSpPr>
        <p:spPr>
          <a:xfrm>
            <a:off x="1042416" y="4352544"/>
            <a:ext cx="758952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23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Features</a:t>
            </a:r>
            <a:endParaRPr lang="en-US" sz="2230" dirty="0"/>
          </a:p>
        </p:txBody>
      </p:sp>
      <p:sp>
        <p:nvSpPr>
          <p:cNvPr id="8" name="Text 3"/>
          <p:cNvSpPr/>
          <p:nvPr/>
        </p:nvSpPr>
        <p:spPr>
          <a:xfrm>
            <a:off x="1042416" y="4837176"/>
            <a:ext cx="758952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    • Secured login system.</a:t>
            </a:r>
            <a:endParaRPr lang="en-US" sz="1780" dirty="0"/>
          </a:p>
        </p:txBody>
      </p:sp>
      <p:sp>
        <p:nvSpPr>
          <p:cNvPr id="9" name="Text 4"/>
          <p:cNvSpPr/>
          <p:nvPr/>
        </p:nvSpPr>
        <p:spPr>
          <a:xfrm>
            <a:off x="1042416" y="5257800"/>
            <a:ext cx="758952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    • Fast and reliable process.</a:t>
            </a:r>
            <a:endParaRPr lang="en-US" sz="1780" dirty="0"/>
          </a:p>
        </p:txBody>
      </p:sp>
      <p:sp>
        <p:nvSpPr>
          <p:cNvPr id="10" name="Text 5"/>
          <p:cNvSpPr/>
          <p:nvPr/>
        </p:nvSpPr>
        <p:spPr>
          <a:xfrm>
            <a:off x="1042416" y="5678424"/>
            <a:ext cx="758952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    • Easy result monitoring.</a:t>
            </a:r>
            <a:endParaRPr lang="en-US" sz="1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057400"/>
            <a:ext cx="7991856" cy="170992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959352"/>
            <a:ext cx="7991856" cy="170992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861304"/>
            <a:ext cx="7991856" cy="128930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2057400"/>
            <a:ext cx="146304" cy="170992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3959352"/>
            <a:ext cx="146304" cy="170992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5861304"/>
            <a:ext cx="146304" cy="1289304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95528" y="1106424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580"/>
              </a:lnSpc>
              <a:buNone/>
            </a:pPr>
            <a:r>
              <a:rPr lang="en-US" sz="4460" dirty="0">
                <a:solidFill>
                  <a:srgbClr val="5E4B21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6. System Modules</a:t>
            </a:r>
            <a:endParaRPr lang="en-US" sz="4460" dirty="0"/>
          </a:p>
        </p:txBody>
      </p:sp>
      <p:sp>
        <p:nvSpPr>
          <p:cNvPr id="11" name="Text 1"/>
          <p:cNvSpPr/>
          <p:nvPr/>
        </p:nvSpPr>
        <p:spPr>
          <a:xfrm>
            <a:off x="1133856" y="2313432"/>
            <a:ext cx="748893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23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Admin Module</a:t>
            </a:r>
            <a:endParaRPr lang="en-US" sz="2230" dirty="0"/>
          </a:p>
        </p:txBody>
      </p:sp>
      <p:sp>
        <p:nvSpPr>
          <p:cNvPr id="12" name="Text 2"/>
          <p:cNvSpPr/>
          <p:nvPr/>
        </p:nvSpPr>
        <p:spPr>
          <a:xfrm>
            <a:off x="1133856" y="2807208"/>
            <a:ext cx="7488936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• Registers voters and candidates.</a:t>
            </a:r>
            <a:endParaRPr lang="en-US" sz="1780" dirty="0"/>
          </a:p>
        </p:txBody>
      </p:sp>
      <p:sp>
        <p:nvSpPr>
          <p:cNvPr id="13" name="Text 3"/>
          <p:cNvSpPr/>
          <p:nvPr/>
        </p:nvSpPr>
        <p:spPr>
          <a:xfrm>
            <a:off x="1133856" y="3218688"/>
            <a:ext cx="7488936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• Manages polling and results.</a:t>
            </a:r>
            <a:endParaRPr lang="en-US" sz="1780" dirty="0"/>
          </a:p>
        </p:txBody>
      </p:sp>
      <p:sp>
        <p:nvSpPr>
          <p:cNvPr id="14" name="Text 4"/>
          <p:cNvSpPr/>
          <p:nvPr/>
        </p:nvSpPr>
        <p:spPr>
          <a:xfrm>
            <a:off x="1133856" y="4215384"/>
            <a:ext cx="748893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23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Voter Module</a:t>
            </a:r>
            <a:endParaRPr lang="en-US" sz="2230" dirty="0"/>
          </a:p>
        </p:txBody>
      </p:sp>
      <p:sp>
        <p:nvSpPr>
          <p:cNvPr id="15" name="Text 5"/>
          <p:cNvSpPr/>
          <p:nvPr/>
        </p:nvSpPr>
        <p:spPr>
          <a:xfrm>
            <a:off x="1133856" y="4709160"/>
            <a:ext cx="7488936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• Logs in using credentials.</a:t>
            </a:r>
            <a:endParaRPr lang="en-US" sz="1780" dirty="0"/>
          </a:p>
        </p:txBody>
      </p:sp>
      <p:sp>
        <p:nvSpPr>
          <p:cNvPr id="16" name="Text 6"/>
          <p:cNvSpPr/>
          <p:nvPr/>
        </p:nvSpPr>
        <p:spPr>
          <a:xfrm>
            <a:off x="1133856" y="5129784"/>
            <a:ext cx="7488936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• Casts votes securely.</a:t>
            </a:r>
            <a:endParaRPr lang="en-US" sz="1780" dirty="0"/>
          </a:p>
        </p:txBody>
      </p:sp>
      <p:sp>
        <p:nvSpPr>
          <p:cNvPr id="17" name="Text 7"/>
          <p:cNvSpPr/>
          <p:nvPr/>
        </p:nvSpPr>
        <p:spPr>
          <a:xfrm>
            <a:off x="1133856" y="6117336"/>
            <a:ext cx="748893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230" dirty="0">
                <a:solidFill>
                  <a:srgbClr val="2A0006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Result Module</a:t>
            </a:r>
            <a:endParaRPr lang="en-US" sz="2230" dirty="0"/>
          </a:p>
        </p:txBody>
      </p:sp>
      <p:sp>
        <p:nvSpPr>
          <p:cNvPr id="18" name="Text 8"/>
          <p:cNvSpPr/>
          <p:nvPr/>
        </p:nvSpPr>
        <p:spPr>
          <a:xfrm>
            <a:off x="1133856" y="6611112"/>
            <a:ext cx="7488936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• Counts and displays votes automatically.</a:t>
            </a:r>
            <a:endParaRPr lang="en-US" sz="1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136392"/>
            <a:ext cx="3959352" cy="145389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4782312"/>
            <a:ext cx="3959352" cy="145389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3136392"/>
            <a:ext cx="3959352" cy="145389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616" y="4782312"/>
            <a:ext cx="3959352" cy="145389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" y="3822192"/>
            <a:ext cx="3895344" cy="74066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" y="5468112"/>
            <a:ext cx="3895344" cy="74066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5192" y="3822192"/>
            <a:ext cx="3895344" cy="74066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5192" y="5468112"/>
            <a:ext cx="3895344" cy="74066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384" y="3127248"/>
            <a:ext cx="3950208" cy="713232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6384" y="4773168"/>
            <a:ext cx="3950208" cy="713232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28616" y="3127248"/>
            <a:ext cx="3950208" cy="713232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28616" y="4773168"/>
            <a:ext cx="3950208" cy="713232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795528" y="1225296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580"/>
              </a:lnSpc>
              <a:buNone/>
            </a:pPr>
            <a:r>
              <a:rPr lang="en-US" sz="4460" dirty="0">
                <a:solidFill>
                  <a:srgbClr val="5E4B21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7. System Testing</a:t>
            </a:r>
            <a:endParaRPr lang="en-US" sz="4460" dirty="0"/>
          </a:p>
        </p:txBody>
      </p:sp>
      <p:sp>
        <p:nvSpPr>
          <p:cNvPr id="17" name="Text 1"/>
          <p:cNvSpPr/>
          <p:nvPr/>
        </p:nvSpPr>
        <p:spPr>
          <a:xfrm>
            <a:off x="795528" y="2194560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580"/>
              </a:lnSpc>
              <a:buNone/>
            </a:pPr>
            <a:r>
              <a:rPr lang="en-US" sz="4460" dirty="0">
                <a:solidFill>
                  <a:srgbClr val="5E4B21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Testing Methods</a:t>
            </a:r>
            <a:endParaRPr lang="en-US" sz="4460" dirty="0"/>
          </a:p>
        </p:txBody>
      </p:sp>
      <p:sp>
        <p:nvSpPr>
          <p:cNvPr id="18" name="Text 2"/>
          <p:cNvSpPr/>
          <p:nvPr/>
        </p:nvSpPr>
        <p:spPr>
          <a:xfrm>
            <a:off x="1042416" y="4050792"/>
            <a:ext cx="343814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Unit Testing</a:t>
            </a:r>
            <a:endParaRPr lang="en-US" sz="1780" dirty="0"/>
          </a:p>
        </p:txBody>
      </p:sp>
      <p:sp>
        <p:nvSpPr>
          <p:cNvPr id="19" name="Text 3"/>
          <p:cNvSpPr/>
          <p:nvPr/>
        </p:nvSpPr>
        <p:spPr>
          <a:xfrm>
            <a:off x="2660904" y="3236976"/>
            <a:ext cx="210312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210"/>
              </a:lnSpc>
              <a:buNone/>
            </a:pPr>
            <a:r>
              <a:rPr lang="en-US" sz="2670" dirty="0">
                <a:solidFill>
                  <a:srgbClr val="26262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1</a:t>
            </a:r>
            <a:endParaRPr lang="en-US" sz="2670" dirty="0"/>
          </a:p>
        </p:txBody>
      </p:sp>
      <p:sp>
        <p:nvSpPr>
          <p:cNvPr id="20" name="Text 4"/>
          <p:cNvSpPr/>
          <p:nvPr/>
        </p:nvSpPr>
        <p:spPr>
          <a:xfrm>
            <a:off x="2660904" y="4882896"/>
            <a:ext cx="210312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210"/>
              </a:lnSpc>
              <a:buNone/>
            </a:pPr>
            <a:r>
              <a:rPr lang="en-US" sz="2670" dirty="0">
                <a:solidFill>
                  <a:srgbClr val="26262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3</a:t>
            </a:r>
            <a:endParaRPr lang="en-US" sz="2670" dirty="0"/>
          </a:p>
        </p:txBody>
      </p:sp>
      <p:sp>
        <p:nvSpPr>
          <p:cNvPr id="21" name="Text 5"/>
          <p:cNvSpPr/>
          <p:nvPr/>
        </p:nvSpPr>
        <p:spPr>
          <a:xfrm>
            <a:off x="1042416" y="5696712"/>
            <a:ext cx="343814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Functional Testing</a:t>
            </a:r>
            <a:endParaRPr lang="en-US" sz="1780" dirty="0"/>
          </a:p>
        </p:txBody>
      </p:sp>
      <p:sp>
        <p:nvSpPr>
          <p:cNvPr id="22" name="Text 6"/>
          <p:cNvSpPr/>
          <p:nvPr/>
        </p:nvSpPr>
        <p:spPr>
          <a:xfrm>
            <a:off x="795528" y="6473952"/>
            <a:ext cx="807415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Result: All tests passed successfully. System works error-free.</a:t>
            </a:r>
            <a:endParaRPr lang="en-US" sz="1780" dirty="0"/>
          </a:p>
        </p:txBody>
      </p:sp>
      <p:sp>
        <p:nvSpPr>
          <p:cNvPr id="23" name="Text 7"/>
          <p:cNvSpPr/>
          <p:nvPr/>
        </p:nvSpPr>
        <p:spPr>
          <a:xfrm>
            <a:off x="5184648" y="4050792"/>
            <a:ext cx="343814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Integration Testing</a:t>
            </a:r>
            <a:endParaRPr lang="en-US" sz="1780" dirty="0"/>
          </a:p>
        </p:txBody>
      </p:sp>
      <p:sp>
        <p:nvSpPr>
          <p:cNvPr id="24" name="Text 8"/>
          <p:cNvSpPr/>
          <p:nvPr/>
        </p:nvSpPr>
        <p:spPr>
          <a:xfrm>
            <a:off x="6803136" y="3236976"/>
            <a:ext cx="210312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210"/>
              </a:lnSpc>
              <a:buNone/>
            </a:pPr>
            <a:r>
              <a:rPr lang="en-US" sz="2670" dirty="0">
                <a:solidFill>
                  <a:srgbClr val="26262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2</a:t>
            </a:r>
            <a:endParaRPr lang="en-US" sz="2670" dirty="0"/>
          </a:p>
        </p:txBody>
      </p:sp>
      <p:sp>
        <p:nvSpPr>
          <p:cNvPr id="25" name="Text 9"/>
          <p:cNvSpPr/>
          <p:nvPr/>
        </p:nvSpPr>
        <p:spPr>
          <a:xfrm>
            <a:off x="5184648" y="5696712"/>
            <a:ext cx="343814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Black &amp; White Box Testing</a:t>
            </a:r>
            <a:endParaRPr lang="en-US" sz="1780" dirty="0"/>
          </a:p>
        </p:txBody>
      </p:sp>
      <p:sp>
        <p:nvSpPr>
          <p:cNvPr id="26" name="Text 10"/>
          <p:cNvSpPr/>
          <p:nvPr/>
        </p:nvSpPr>
        <p:spPr>
          <a:xfrm>
            <a:off x="6803136" y="4882896"/>
            <a:ext cx="210312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210"/>
              </a:lnSpc>
              <a:buNone/>
            </a:pPr>
            <a:r>
              <a:rPr lang="en-US" sz="2670" dirty="0">
                <a:solidFill>
                  <a:srgbClr val="26262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4</a:t>
            </a:r>
            <a:endParaRPr lang="en-US" sz="26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7688" y="3090672"/>
            <a:ext cx="719632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580"/>
              </a:lnSpc>
              <a:buNone/>
            </a:pPr>
            <a:r>
              <a:rPr lang="en-US" sz="4460" dirty="0">
                <a:solidFill>
                  <a:srgbClr val="5E4B21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8. Conclusion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6647688" y="4050792"/>
            <a:ext cx="71963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The system is user-friendly, secure, and efficient. It modernizes the traditional voting process. Reduces manpower, time, and paper usage. Ensures transparency and quick result generation.</a:t>
            </a:r>
            <a:endParaRPr lang="en-US" sz="1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5138928"/>
            <a:ext cx="6409944" cy="51206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5879592"/>
            <a:ext cx="6409944" cy="51206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5138928"/>
            <a:ext cx="6409944" cy="51206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5879592"/>
            <a:ext cx="6409944" cy="51206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192" y="5221224"/>
            <a:ext cx="5678424" cy="51206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6192" y="5952744"/>
            <a:ext cx="5678424" cy="51206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5592" y="5221224"/>
            <a:ext cx="5678424" cy="51206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5592" y="5952744"/>
            <a:ext cx="5678424" cy="51206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384" y="5129784"/>
            <a:ext cx="548640" cy="54864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6384" y="5861304"/>
            <a:ext cx="548640" cy="54864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15784" y="5129784"/>
            <a:ext cx="548640" cy="54864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15784" y="5861304"/>
            <a:ext cx="548640" cy="54864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795528" y="4178808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580"/>
              </a:lnSpc>
              <a:buNone/>
            </a:pPr>
            <a:r>
              <a:rPr lang="en-US" sz="4460" dirty="0">
                <a:solidFill>
                  <a:srgbClr val="5E4B21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9. Bibliography</a:t>
            </a:r>
            <a:endParaRPr lang="en-US" sz="4460" dirty="0"/>
          </a:p>
        </p:txBody>
      </p:sp>
      <p:sp>
        <p:nvSpPr>
          <p:cNvPr id="17" name="Text 1"/>
          <p:cNvSpPr/>
          <p:nvPr/>
        </p:nvSpPr>
        <p:spPr>
          <a:xfrm>
            <a:off x="950976" y="5148072"/>
            <a:ext cx="210312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210"/>
              </a:lnSpc>
              <a:buNone/>
            </a:pPr>
            <a:r>
              <a:rPr lang="en-US" sz="2670" dirty="0">
                <a:solidFill>
                  <a:srgbClr val="26262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1</a:t>
            </a:r>
            <a:endParaRPr lang="en-US" sz="2670" dirty="0"/>
          </a:p>
        </p:txBody>
      </p:sp>
      <p:sp>
        <p:nvSpPr>
          <p:cNvPr id="18" name="Text 2"/>
          <p:cNvSpPr/>
          <p:nvPr/>
        </p:nvSpPr>
        <p:spPr>
          <a:xfrm>
            <a:off x="1536192" y="5221224"/>
            <a:ext cx="56784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IEEE papers on electronic voting systems.</a:t>
            </a:r>
            <a:endParaRPr lang="en-US" sz="1780" dirty="0"/>
          </a:p>
        </p:txBody>
      </p:sp>
      <p:sp>
        <p:nvSpPr>
          <p:cNvPr id="19" name="Text 3"/>
          <p:cNvSpPr/>
          <p:nvPr/>
        </p:nvSpPr>
        <p:spPr>
          <a:xfrm>
            <a:off x="950976" y="5888736"/>
            <a:ext cx="210312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210"/>
              </a:lnSpc>
              <a:buNone/>
            </a:pPr>
            <a:r>
              <a:rPr lang="en-US" sz="2670" dirty="0">
                <a:solidFill>
                  <a:srgbClr val="26262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3</a:t>
            </a:r>
            <a:endParaRPr lang="en-US" sz="2670" dirty="0"/>
          </a:p>
        </p:txBody>
      </p:sp>
      <p:sp>
        <p:nvSpPr>
          <p:cNvPr id="20" name="Text 4"/>
          <p:cNvSpPr/>
          <p:nvPr/>
        </p:nvSpPr>
        <p:spPr>
          <a:xfrm>
            <a:off x="1536192" y="5952744"/>
            <a:ext cx="56784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Caltech Voting Reports.</a:t>
            </a:r>
            <a:endParaRPr lang="en-US" sz="1780" dirty="0"/>
          </a:p>
        </p:txBody>
      </p:sp>
      <p:sp>
        <p:nvSpPr>
          <p:cNvPr id="21" name="Text 5"/>
          <p:cNvSpPr/>
          <p:nvPr/>
        </p:nvSpPr>
        <p:spPr>
          <a:xfrm>
            <a:off x="7589520" y="5148072"/>
            <a:ext cx="210312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210"/>
              </a:lnSpc>
              <a:buNone/>
            </a:pPr>
            <a:r>
              <a:rPr lang="en-US" sz="2670" dirty="0">
                <a:solidFill>
                  <a:srgbClr val="26262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2</a:t>
            </a:r>
            <a:endParaRPr lang="en-US" sz="2670" dirty="0"/>
          </a:p>
        </p:txBody>
      </p:sp>
      <p:sp>
        <p:nvSpPr>
          <p:cNvPr id="22" name="Text 6"/>
          <p:cNvSpPr/>
          <p:nvPr/>
        </p:nvSpPr>
        <p:spPr>
          <a:xfrm>
            <a:off x="7589520" y="5888736"/>
            <a:ext cx="210312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210"/>
              </a:lnSpc>
              <a:buNone/>
            </a:pPr>
            <a:r>
              <a:rPr lang="en-US" sz="2670" dirty="0">
                <a:solidFill>
                  <a:srgbClr val="26262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4</a:t>
            </a:r>
            <a:endParaRPr lang="en-US" sz="2670" dirty="0"/>
          </a:p>
        </p:txBody>
      </p:sp>
      <p:sp>
        <p:nvSpPr>
          <p:cNvPr id="23" name="Text 7"/>
          <p:cNvSpPr/>
          <p:nvPr/>
        </p:nvSpPr>
        <p:spPr>
          <a:xfrm>
            <a:off x="8165592" y="5221224"/>
            <a:ext cx="56784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Gujarat online voting model (sec.gujarat.gov.in).</a:t>
            </a:r>
            <a:endParaRPr lang="en-US" sz="1780" dirty="0"/>
          </a:p>
        </p:txBody>
      </p:sp>
      <p:sp>
        <p:nvSpPr>
          <p:cNvPr id="24" name="Text 8"/>
          <p:cNvSpPr/>
          <p:nvPr/>
        </p:nvSpPr>
        <p:spPr>
          <a:xfrm>
            <a:off x="8165592" y="5952744"/>
            <a:ext cx="56784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780" dirty="0">
                <a:solidFill>
                  <a:srgbClr val="2A0006"/>
                </a:solidFill>
                <a:latin typeface="思源黑体-思源黑体-Light" pitchFamily="34" charset="0"/>
                <a:ea typeface="思源黑体-思源黑体-Light" pitchFamily="34" charset="-122"/>
                <a:cs typeface="思源黑体-思源黑体-Light" pitchFamily="34" charset="-120"/>
              </a:rPr>
              <a:t>Various journals and online PHP/MySQL resources.</a:t>
            </a:r>
            <a:endParaRPr lang="en-US" sz="1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3502152"/>
            <a:ext cx="13048488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60" dirty="0">
                <a:solidFill>
                  <a:srgbClr val="5E4B21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Thank You</a:t>
            </a:r>
            <a:endParaRPr lang="en-US" sz="6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2025-10-17T09:57:07Z</dcterms:created>
  <dcterms:modified xsi:type="dcterms:W3CDTF">2025-10-17T09:57:07Z</dcterms:modified>
</cp:coreProperties>
</file>